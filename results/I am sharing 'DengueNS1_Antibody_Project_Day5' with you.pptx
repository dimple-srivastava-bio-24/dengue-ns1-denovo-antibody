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C61B9-6444-1A46-AEE0-A74CC943C8A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77130-3131-7347-BFF4-0E7965587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0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90144" y="255942"/>
            <a:ext cx="11521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Computational Antibody 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87680" y="974762"/>
            <a:ext cx="1152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Dengue Virus NS1 Protein (DENV1 &amp; DENV2)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Dimple Srivastava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Biotechnology | J.C. Bose University (YMCA), Faridabad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Dissertation: Dept. of Virology, Jamia Hamdard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4754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4-day computational pipeline: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→ Structure → Antibody Design → Docking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10972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1097280"/>
            <a:ext cx="73152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887968" y="1188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&amp; Conservation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377440"/>
            <a:ext cx="73152" cy="1051560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3" name="Text 11"/>
          <p:cNvSpPr/>
          <p:nvPr/>
        </p:nvSpPr>
        <p:spPr>
          <a:xfrm>
            <a:off x="8887968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SASA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365760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3657600"/>
            <a:ext cx="73152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8887968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493776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4937760"/>
            <a:ext cx="73152" cy="1051560"/>
          </a:xfrm>
          <a:prstGeom prst="rect">
            <a:avLst/>
          </a:prstGeom>
          <a:solidFill>
            <a:srgbClr val="9B72CF"/>
          </a:solidFill>
          <a:ln/>
        </p:spPr>
      </p:sp>
      <p:sp>
        <p:nvSpPr>
          <p:cNvPr id="19" name="Text 17"/>
          <p:cNvSpPr/>
          <p:nvPr/>
        </p:nvSpPr>
        <p:spPr>
          <a:xfrm>
            <a:off x="8887968" y="5029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&amp;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Scientific Rationale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Dengue NS1 | Why de novo antibody design | DENV1 vs DENV2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557784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07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Dengue NS1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NS1 is a secreted viral glycoprotein essential for dengue replication and immune evasion. It activates complement and contributes to vascular leakage — a key pathogenic mechanism in severe dengue.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25880"/>
            <a:ext cx="5577840" cy="347472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3807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DENV1 &amp; DENV2?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dengue infection with different serotypes causes severe disease (ADE). A broad-spectrum antibody targeting conserved NS1 epitopes could neutralize multiple serotypes simultaneously.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611880"/>
            <a:ext cx="55778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667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screening existing antibody libraries, CDR sequences were computationally designed from epitope physicochemistry — charge, aromaticity, and H-bond potential — using human germline frameworks.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611880"/>
            <a:ext cx="5577840" cy="347472"/>
          </a:xfrm>
          <a:prstGeom prst="rect">
            <a:avLst/>
          </a:prstGeom>
          <a:solidFill>
            <a:srgbClr val="9B72C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6667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069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sequence QC → structural mapping (PyMOL, PDB) → epitope selection → antibody modelling (ABodyBuilder2) → docking validation (HADDOCK 2.4 + PDBePISA).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Sequence QC &amp; Conservation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Den1 NS1 vs Den2 NS1 | 352 aa | 72.7% identity | Key conserved regions identified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 aa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sequences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(1056 nt DNA)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34440"/>
            <a:ext cx="2651760" cy="73152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Den1 vs Den2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3444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2344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234440"/>
            <a:ext cx="2651760" cy="73152"/>
          </a:xfrm>
          <a:prstGeom prst="rect">
            <a:avLst/>
          </a:prstGeom>
          <a:solidFill>
            <a:srgbClr val="9B72CF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9828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97480"/>
            <a:ext cx="5577840" cy="3319272"/>
          </a:xfrm>
          <a:prstGeom prst="roundRect">
            <a:avLst>
              <a:gd name="adj" fmla="val 2025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Conserved Regions Found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25–34: VHTWTEQYKF — 100% conserved (10-aa window)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47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26–35: HTWTEQYKFQ — 100% conserved (overlapping)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193–202: AVHADMGYWI — 100% conserved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225–244: PKSHTLWSNG region — 100% conserved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902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310–322: CCRSCTLPPL — 100% conserved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2852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Conservation ≠ confirmed epitope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6327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validation required (Day 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2697480"/>
            <a:ext cx="5669280" cy="3282696"/>
          </a:xfrm>
          <a:prstGeom prst="roundRect">
            <a:avLst>
              <a:gd name="adj" fmla="val 2025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788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Physicochemical Properties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32186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3218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Den1 NS1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0" y="3218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Den2 NS1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369417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(kDa)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0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058400" y="3694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0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4169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6.48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058400" y="4169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4169664"/>
            <a:ext cx="5394960" cy="438912"/>
          </a:xfrm>
          <a:prstGeom prst="rect">
            <a:avLst/>
          </a:prstGeom>
          <a:solidFill>
            <a:srgbClr val="192A3A"/>
          </a:solidFill>
          <a:ln w="12700">
            <a:solidFill>
              <a:srgbClr val="192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46451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0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 (Stable)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058400" y="464515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 (Border)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5120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29600" y="5120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58400" y="5120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-0.298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72200" y="5120640"/>
            <a:ext cx="5394960" cy="438912"/>
          </a:xfrm>
          <a:prstGeom prst="rect">
            <a:avLst/>
          </a:prstGeom>
          <a:solidFill>
            <a:srgbClr val="192A3A"/>
          </a:solidFill>
          <a:ln w="12700">
            <a:solidFill>
              <a:srgbClr val="192A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5596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Aromaticity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29600" y="5596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058400" y="5596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20040" y="621792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conclusion: Both 352 aa / 1056 nt. Den1 stable; Den2 borderline.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100% conserved regions identified as candidates for structural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Structural Mapping &amp; Surface Accessibility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4O6B (Den1) + 4OIG (Den2) | PyMOL DSSP + get_area | Candidate region selection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623560" cy="5029200"/>
          </a:xfrm>
          <a:prstGeom prst="roundRect">
            <a:avLst>
              <a:gd name="adj" fmla="val 1455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623560" cy="384048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 — ★★★ PRIMARY 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17099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4O6B (Den1 NS1)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8840" y="2185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24–34 (PDB 25–35)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6609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48840" y="2660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EVHTWTEQYKF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1363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 (core 100%)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DSSP: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48840" y="3611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loop (aa 24–32); aa 33–34 strand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87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SASA: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48840" y="40873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1310.2 Å²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5628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SASA: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45628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119.1 Å²/res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5038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RSA: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50383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513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48840" y="5513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Akey et al. 2014 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5623560" cy="5029200"/>
          </a:xfrm>
          <a:prstGeom prst="roundRect">
            <a:avLst>
              <a:gd name="adj" fmla="val 1455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234440"/>
            <a:ext cx="562356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261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 — ★★  SECONDARY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17099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17099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4OIG (Den2 NS1)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1854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21854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193–207 (PDB direct)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26609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26609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AVHADMGYWIESEKN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5080" y="31363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46720" y="31363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36118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DSSP: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46720" y="3611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strand/loop (193–196 strand; 197–199 loop; 200–206 strand)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55080" y="4087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SASA: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46720" y="40873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1448.1 Å²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55080" y="45628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SASA: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46720" y="45628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 Å²/res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55080" y="5038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RSA: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0" y="50383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55080" y="55138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46720" y="55138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2015 ✓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6380002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regions partially surface-accessible (norm RSA &lt; 1.0) — consistent with PyMOL visual inspection showing partial embedding.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exposed loops are preferred antibody targets — accessible but conformationally constrained, aiding binding specificity.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De Novo Antibody Candidate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VHTWTEQYKF (aa 25–34) | Framework: IGHV1-2*02 + IGKV1-39*01 | ABodyBuilder2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germline framework: IGHV1-2*02 (VH) + IGKV1-39*01 (VL)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CDR-H3 designed to complement epitope physicochemistry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aromatic residues (H,W,Y,F) → Y/W in CDR-H3 for π-stacking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E30 (negative) → R in CDR-H3 for salt bridge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K33 (positive) → D/E in CDR for electrostatic balance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1234440"/>
            <a:ext cx="649224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298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ABodyBuilder2 Modelling Scores (Å RMSD)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664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CDR-L3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0" y="1664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1956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1956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4.02 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18320" y="1956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0" y="1956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 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249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 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0" y="2249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0" y="2249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(caution)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1832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Priority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2104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183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(server)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 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18320" y="3127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3127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Strong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429000"/>
            <a:ext cx="5029200" cy="2651760"/>
          </a:xfrm>
          <a:prstGeom prst="roundRect">
            <a:avLst>
              <a:gd name="adj" fmla="val 2759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493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PyMOL CDR-H SASA Validation (residues 95–102)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3886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86000" y="3886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 SASA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40480" y="38862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RSA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361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86000" y="4361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882.5 Å²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40480" y="4361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837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286000" y="4837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881.4 Å²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40480" y="48371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5312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286000" y="5312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810.8 Å²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840480" y="531266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5760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CDR-H regions well-exposed (norm RSA ~1.0)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CDR-H3 fully modeled with coordinates confirmed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32120" y="3429000"/>
            <a:ext cx="6492240" cy="2651760"/>
          </a:xfrm>
          <a:prstGeom prst="roundRect">
            <a:avLst>
              <a:gd name="adj" fmla="val 2759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0" y="34930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CDR-H3 Sequences &amp; Design Rationale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669280" y="3913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3796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AKGYYYYGMDV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69280" y="4187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YYYY → aromatic stack with H,W,Y,F epitope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669280" y="4572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53796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ARRGYYYYWDFDYW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669280" y="4846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for charge contacts; YYYY+W aromatic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69280" y="5230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37960" y="5230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ARDRYYWYFDV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669280" y="5504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for E30 salt bridge; YWY aromatic cluster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HADDOCK Docking &amp; Interface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Receptor: 4O6B (Den1 NS1) | Epitope active residues: PDB 26–35 | HADDOCK 2.4 + PDBePISA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7132320" cy="3200400"/>
          </a:xfrm>
          <a:prstGeom prst="roundRect">
            <a:avLst>
              <a:gd name="adj" fmla="val 228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 2.4 Results — Selected Clusters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16642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 (Cl.2)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 (Cl.1)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 (Cl.6)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2011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−76.4 ± 1.4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0" y="2011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−83.6 ± 5.1 ★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−66.9 ± 3.7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Evdw (kcal/mol)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2359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2359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−55.8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3591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−57.8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7066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Eelec (kcal/mol)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2706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−88.5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0" y="2706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−171.0 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706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−98.0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0540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Edesol (kcal/mol)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3054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−2.3 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0" y="3054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3054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01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(Å²)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68880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1618 ± 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0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1688 ± 121 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1580 ± 94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68880" y="3749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0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★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3749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096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68880" y="4096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0" y="4096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 ★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0" y="40965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 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35240" y="123444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PDBePISA Interface Analysis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0" y="16642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2560" y="16642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0" y="16642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64240" y="16642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213969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NS1 residues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52560" y="21396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0" y="21396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064240" y="21396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72400" y="261518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residues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52560" y="26151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0" y="26151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★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064240" y="261518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★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72400" y="30906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52560" y="30906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058400" y="30906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★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064240" y="30906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72400" y="35661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bridges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52560" y="35661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58400" y="35661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064240" y="35661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72400" y="40416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ΔiG p-val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52560" y="40416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058400" y="40416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1064240" y="40416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0.421 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4617720"/>
            <a:ext cx="1170432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68172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Caveats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7200" y="5047488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RMSD (10–14 Å) — clusters distant from lowest-energy structure; AbC-5 Cluster 4 (RMSD=5.4) more convergent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57200" y="5394960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ΔiG p-values &gt; 0.05 — interfaces not statistically significant by PDBePISA criteria (expected for computational models)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457200" y="5742432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restraint violation energies (56–157 kcal/mol) — some AIRs not fully satisfied, reflecting docking orientation uncertainty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57200" y="6089904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experimental data (SPR/ITC/ELISA) — all results are computational predictions requiring wet-lab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Candidate Ranking — Integrated Analysis (Days 1–4)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criteria: conservation + structural accessibility + model quality + docking energy + interface contacts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704320" cy="1417320"/>
          </a:xfrm>
          <a:prstGeom prst="roundRect">
            <a:avLst>
              <a:gd name="adj" fmla="val 5161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91440" cy="1417320"/>
          </a:xfrm>
          <a:prstGeom prst="rect">
            <a:avLst/>
          </a:prstGeom>
          <a:solidFill>
            <a:srgbClr val="9B72C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 AbC-5 — PRIORITY CANDIDATE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 −83.6 kcal/mol  |  BSA 1688 Å²  |  8 H-bonds  |  2 salt bridges  |  Cluster size 57  |  CDR-H3 error 0.52 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CDR-H2 model quality borderline (1.80 Å) — does not directly affect CDR-H3 antigen contact loop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11704320" cy="3767328"/>
          </a:xfrm>
          <a:prstGeom prst="roundRect">
            <a:avLst>
              <a:gd name="adj" fmla="val 2581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0779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Scorecard (Days 1–4)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33101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310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3310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5440" y="3310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639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(epitope)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639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6393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 (core 100%)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6393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 (core 100%)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0" y="3639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 (core 100%)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RSA (epitope)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3968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9684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3968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35440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CDR-H3 model error (Å)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297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42976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297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35440" y="4297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 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6268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CDR-H2 model error (Å)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46268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46268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6268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 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35440" y="4626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 ⚠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956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 score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63040" y="4956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0" y="4956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−76.4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9560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−83.6 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49560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−66.9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52852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(Å²)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63040" y="52852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52852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0" y="5285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1688 ★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35440" y="52852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56144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463040" y="5614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26080" y="56144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5614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235440" y="56144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59436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bridges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63040" y="5943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0" y="5943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0" y="59436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35440" y="5943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2727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463040" y="6272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926080" y="6272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Strong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943600" y="6272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Priority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235440" y="6272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Moderate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transparency | What this project establishes vs what requires further 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794760" cy="5440680"/>
          </a:xfrm>
          <a:prstGeom prst="roundRect">
            <a:avLst>
              <a:gd name="adj" fmla="val 1928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379476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SASA values estimated via RSA proxy (Day 2 v1); replaced with PyMOL get_area from 4O6B/4OIG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44144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ABodyBuilder2: AbC-4 failed (server OSError); AbC-1 deprioritized (CDR-H2 = 4.02 Å)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319125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HADDOCK RMSD (10–14 Å) indicates docking solution diversity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941064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ΔiG p-values &gt; 0.05 — interfaces not statistically confirmed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4690872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Restraint violations (56–157 kcal/mol) reflect incomplete AIR satisfaction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544068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CDR-H3 active residue numbering required manual adjustment for AbC-5 due to PDB insertion codes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234440"/>
            <a:ext cx="3794760" cy="5440680"/>
          </a:xfrm>
          <a:prstGeom prst="roundRect">
            <a:avLst>
              <a:gd name="adj" fmla="val 1928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234440"/>
            <a:ext cx="3794760" cy="347472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Experimental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169164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AbC-5 and AbC-3 VH/VL in mammalian cell system (HEK293)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244144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binding affinity by SPR (KD, kon, koff) against recombinant NS1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07408" y="319125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ELISA cross-reactivity panel: DENV1, DENV2, DENV3, DENV4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07408" y="3941064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 activation assay (NS1 functional relevance)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07408" y="4690872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Neutralization assay in DENV-infected Vero cells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07408" y="544068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MolProbity/PROCHECK for antibody structure quality (Ramachandran analysis)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75320" y="1234440"/>
            <a:ext cx="3794760" cy="5440680"/>
          </a:xfrm>
          <a:prstGeom prst="roundRect">
            <a:avLst>
              <a:gd name="adj" fmla="val 1928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1234440"/>
            <a:ext cx="379476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Next Steps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85048" y="169164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MD simulation (GROMACS) of AbC-5–NS1 complex for dynamic stability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85048" y="244144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MM-PBSA binding free energy calculation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5048" y="319125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to Rosetta AbDesign for CDR optimization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85048" y="3941064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AbC-5 Cluster 4 (RMSD=5.4 Å) re-analysis — more convergent pose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5048" y="4690872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to DENV3 / DENV4 NS1 for pan-serotype validation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85048" y="544068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ProteinMPNN or RFdiffusion for truly de novo CDR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4-day de novo computational antibody development pipeline against Dengue NS1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627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Identified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β-roll loop (aa 25–34, VHTWTEQYKF) selected as primary epitope: 100% conserved between DENV1/DENV2, surface-accessible (norm RSA 0.64), experimentally confirmed mAb contact region (Akey et al. 2014).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57276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57CC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1627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Designed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121408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novo VH/VL candidates generated using human germline frameworks (IGHV1-2*02 + IGKV1-39*01). CDR-H3 designed for aromatic stacking and charge complementarity with the epitope.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5020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Validated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candidates successfully modelled by ABodyBuilder2. AbC-3 and AbC-5 have CDR-H3 prediction errors of 0.52 Å (high confidence). CDR-H SASA confirmed by PyMOL get_area (norm RSA ~1.0).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950208"/>
            <a:ext cx="548640" cy="548640"/>
          </a:xfrm>
          <a:prstGeom prst="roundRect">
            <a:avLst>
              <a:gd name="adj" fmla="val 8333"/>
            </a:avLst>
          </a:prstGeom>
          <a:solidFill>
            <a:srgbClr val="9B72C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40050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Candidate: AbC-5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498848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HADDOCK score −83.6 kcal/mol | BSA 1688 Å² | 8 H-bonds | 57-model cluster. AbC-3 is secondary: cleanest Fv geometry (CDR-H2=0.79 Å) and 4 salt bridges at interface.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Dimple Srivastava  |  MSc Biotechnology  |  J.C. Bose University (YMCA), Faridabad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Dimple Srivastava</cp:lastModifiedBy>
  <cp:revision>3</cp:revision>
  <dcterms:created xsi:type="dcterms:W3CDTF">2026-08-21T06:35:19Z</dcterms:created>
  <dcterms:modified xsi:type="dcterms:W3CDTF">2026-08-21T12:59:51Z</dcterms:modified>
</cp:coreProperties>
</file>